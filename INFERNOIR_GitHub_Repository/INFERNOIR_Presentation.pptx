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INFERNOIR as a proposed NLP research prototype. It helps users inspect the reasoning behind arguments.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difference between the words a claim states and the assumptions someone may need to accept for its reasoning to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the tool surfaces candidates for human review; it does not decide truth or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dataset has structured fields that map well to the project. Verify exact final size and schema from downloaded files; automated annotations need quality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stage simply. The TF-IDF model is only a baseline for a clearly defined task; semantic premise analysis may require additional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example. These assumptions are plausible interpretations to investigate, not facts or outputs from a trained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precision and recall in plain language. Do not report scores until experiments have been run on a held-out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the audit asks where the system might fail, including on paraphrases and noisy annotations.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lightweight tools and be candid about limitations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stressing that INFERNOIR supports critical thinking rather than replacing human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914400"/>
            <a:ext cx="73152" cy="4526280"/>
          </a:xfrm>
          <a:prstGeom prst="rect">
            <a:avLst/>
          </a:prstGeom>
          <a:solidFill>
            <a:srgbClr val="8E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144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CD8289"/>
                </a:solidFill>
                <a:latin typeface="Aptos"/>
              </a:rPr>
              <a:t>NATURAL LANGUAGE PROCESSING  /  RESEARCH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645920"/>
            <a:ext cx="960120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600" b="1" i="0">
                <a:solidFill>
                  <a:srgbClr val="F4EDE5"/>
                </a:solidFill>
                <a:latin typeface="Aptos Display"/>
              </a:rPr>
              <a:t>INFERNOIR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761488"/>
            <a:ext cx="7955279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0" i="0">
                <a:solidFill>
                  <a:srgbClr val="DCCDC3"/>
                </a:solidFill>
                <a:latin typeface="Aptos Display"/>
              </a:rPr>
              <a:t>Uncover What Lies Beneath.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3703320"/>
            <a:ext cx="81381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A7A09B"/>
                </a:solidFill>
                <a:latin typeface="Aptos"/>
              </a:rPr>
              <a:t>An AI-assisted tool for exploring hidden assumptions</a:t>
            </a:r>
          </a:p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A7A09B"/>
                </a:solidFill>
                <a:latin typeface="Aptos"/>
              </a:rPr>
              <a:t>and reasoning gaps in written arguments.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" y="5074920"/>
            <a:ext cx="1600200" cy="329184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116068"/>
            <a:ext cx="1453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CLAIMS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5074920"/>
            <a:ext cx="1600200" cy="329184"/>
          </a:xfrm>
          <a:prstGeom prst="roundRect">
            <a:avLst/>
          </a:prstGeom>
          <a:solidFill>
            <a:srgbClr val="8E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5116068"/>
            <a:ext cx="1453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ASSUMPTIONS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2856" y="5074920"/>
            <a:ext cx="1600200" cy="329184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5116068"/>
            <a:ext cx="1453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6217920"/>
            <a:ext cx="9784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A7A09B"/>
                </a:solidFill>
                <a:latin typeface="Aptos"/>
              </a:rPr>
              <a:t>A student research prototype — designed to assist critical thinking, not replace human judgement.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217920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A7A09B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8E303B"/>
                </a:solidFill>
                <a:latin typeface="Aptos"/>
              </a:rPr>
              <a:t>INFERNOIR  / 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232120"/>
                </a:solidFill>
                <a:latin typeface="Aptos Display"/>
              </a:rPr>
              <a:t>The problem: what a claim leaves unsaid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9635E"/>
                </a:solidFill>
                <a:latin typeface="Aptos"/>
              </a:rPr>
              <a:t>A statement can sound convincing while relying on ideas it never explains.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8E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9635E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204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011679"/>
            <a:ext cx="31912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32120"/>
                </a:solidFill>
                <a:latin typeface="Aptos"/>
              </a:rPr>
              <a:t>THE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441448"/>
            <a:ext cx="3191256" cy="1307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69635E"/>
                </a:solidFill>
                <a:latin typeface="Aptos"/>
              </a:rPr>
              <a:t>“This app improves every student's grades.”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5204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011679"/>
            <a:ext cx="31912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32120"/>
                </a:solidFill>
                <a:latin typeface="Aptos"/>
              </a:rPr>
              <a:t>THE HIDDEN LEAP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441448"/>
            <a:ext cx="3191256" cy="1307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69635E"/>
                </a:solidFill>
                <a:latin typeface="Aptos"/>
              </a:rPr>
              <a:t>Does the app cause the improvement? Does it work for everyone?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5204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2011679"/>
            <a:ext cx="31912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32120"/>
                </a:solidFill>
                <a:latin typeface="Aptos"/>
              </a:rP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441448"/>
            <a:ext cx="3191256" cy="1307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69635E"/>
                </a:solidFill>
                <a:latin typeface="Aptos"/>
              </a:rPr>
              <a:t>Readers must spot missing conditions and evidence manually.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69663" y="2834640"/>
            <a:ext cx="155449" cy="0"/>
          </a:xfrm>
          <a:prstGeom prst="line">
            <a:avLst/>
          </a:prstGeom>
          <a:ln w="25400">
            <a:solidFill>
              <a:srgbClr val="8E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72983" y="2834640"/>
            <a:ext cx="155448" cy="0"/>
          </a:xfrm>
          <a:prstGeom prst="line">
            <a:avLst/>
          </a:prstGeom>
          <a:ln w="25400">
            <a:solidFill>
              <a:srgbClr val="8E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4343400"/>
            <a:ext cx="10835640" cy="1143000"/>
          </a:xfrm>
          <a:prstGeom prst="roundRect">
            <a:avLst/>
          </a:prstGeom>
          <a:solidFill>
            <a:srgbClr val="EB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1033272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232120"/>
                </a:solidFill>
                <a:latin typeface="Aptos"/>
              </a:rPr>
              <a:t>Research question: Can NLP help surface plausible unstated assumptions and potential reasoning gaps?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CD8289"/>
                </a:solidFill>
                <a:latin typeface="Aptos"/>
              </a:rPr>
              <a:t>INFERNOIR  / 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EDE5"/>
                </a:solidFill>
                <a:latin typeface="Aptos Display"/>
              </a:rPr>
              <a:t>What INFERNOIR aims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7A09B"/>
                </a:solidFill>
                <a:latin typeface="Aptos"/>
              </a:rPr>
              <a:t>The goal is to make arguments easier to examine — not to decide truth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8E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A7A09B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606040" cy="2240280"/>
          </a:xfrm>
          <a:prstGeom prst="roundRect">
            <a:avLst/>
          </a:prstGeom>
          <a:solidFill>
            <a:srgbClr val="242424"/>
          </a:solidFill>
          <a:ln w="1524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194560"/>
            <a:ext cx="22768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4EDE5"/>
                </a:solidFill>
                <a:latin typeface="Aptos"/>
              </a:rPr>
              <a:t>01  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24328"/>
            <a:ext cx="2276856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7A09B"/>
                </a:solidFill>
                <a:latin typeface="Aptos"/>
              </a:rPr>
              <a:t>Identify the main claim and stated reasons.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2057400"/>
            <a:ext cx="2606040" cy="2240280"/>
          </a:xfrm>
          <a:prstGeom prst="roundRect">
            <a:avLst/>
          </a:prstGeom>
          <a:solidFill>
            <a:srgbClr val="242424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194560"/>
            <a:ext cx="22768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4EDE5"/>
                </a:solidFill>
                <a:latin typeface="Aptos"/>
              </a:rPr>
              <a:t>02 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24328"/>
            <a:ext cx="2276856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7A09B"/>
                </a:solidFill>
                <a:latin typeface="Aptos"/>
              </a:rPr>
              <a:t>Find candidate assumptions that may connect the reasons to the claim.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1656" y="2057400"/>
            <a:ext cx="2606040" cy="2240280"/>
          </a:xfrm>
          <a:prstGeom prst="roundRect">
            <a:avLst/>
          </a:prstGeom>
          <a:solidFill>
            <a:srgbClr val="242424"/>
          </a:solidFill>
          <a:ln w="1524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194560"/>
            <a:ext cx="22768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4EDE5"/>
                </a:solidFill>
                <a:latin typeface="Aptos"/>
              </a:rPr>
              <a:t>03  Examine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624328"/>
            <a:ext cx="2276856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7A09B"/>
                </a:solidFill>
                <a:latin typeface="Aptos"/>
              </a:rPr>
              <a:t>Flag ambiguity or possible gaps that deserve a closer look.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44584" y="2057400"/>
            <a:ext cx="2606040" cy="2240280"/>
          </a:xfrm>
          <a:prstGeom prst="roundRect">
            <a:avLst/>
          </a:prstGeom>
          <a:solidFill>
            <a:srgbClr val="242424"/>
          </a:solidFill>
          <a:ln w="1524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9176" y="2194560"/>
            <a:ext cx="22768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4EDE5"/>
                </a:solidFill>
                <a:latin typeface="Aptos"/>
              </a:rPr>
              <a:t>04 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9176" y="2624328"/>
            <a:ext cx="2276856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7A09B"/>
                </a:solidFill>
                <a:latin typeface="Aptos"/>
              </a:rPr>
              <a:t>Show the text, candidate interpretation, and questions for a human reviewer.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607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4EDE5"/>
                </a:solidFill>
                <a:latin typeface="Aptos"/>
              </a:rPr>
              <a:t>Core principle: suggestions are hypotheses for review, not proof that a claim is false.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8E303B"/>
                </a:solidFill>
                <a:latin typeface="Aptos"/>
              </a:rPr>
              <a:t>INFERNOIR  / 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232120"/>
                </a:solidFill>
                <a:latin typeface="Aptos Display"/>
              </a:rPr>
              <a:t>Our dataset: Reddit Argument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9635E"/>
                </a:solidFill>
                <a:latin typeface="Aptos"/>
              </a:rPr>
              <a:t>Source: agentlans/reddit-logic on Hugging 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8E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9635E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232120"/>
                </a:solidFill>
                <a:latin typeface="Aptos Display"/>
              </a:rPr>
              <a:t>Real online arguments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42032"/>
            <a:ext cx="466344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69635E"/>
                </a:solidFill>
                <a:latin typeface="Aptos"/>
              </a:rPr>
              <a:t>The dataset contains Reddit r/ChangeMyView posts with structured annotations about how arguments are built.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023360"/>
            <a:ext cx="475488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120"/>
                </a:solidFill>
                <a:latin typeface="Aptos"/>
              </a:rPr>
              <a:t>Annotated fields include claims, assumptions, premises, evidence, ambiguous terms, issues, and competing explanations.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783080"/>
            <a:ext cx="24231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920240"/>
            <a:ext cx="20939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32120"/>
                </a:solidFill>
                <a:latin typeface="Aptos"/>
              </a:rPr>
              <a:t>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2350008"/>
            <a:ext cx="2093976" cy="7589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9635E"/>
                </a:solidFill>
                <a:latin typeface="Aptos"/>
              </a:rPr>
              <a:t>What is being argued?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783080"/>
            <a:ext cx="26517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5672" y="192024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32120"/>
                </a:solidFill>
                <a:latin typeface="Aptos"/>
              </a:rPr>
              <a:t>ASSUMPTIONS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5672" y="2350008"/>
            <a:ext cx="2322576" cy="7589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9635E"/>
                </a:solidFill>
                <a:latin typeface="Aptos"/>
              </a:rPr>
              <a:t>What may be taken for granted?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474720"/>
            <a:ext cx="24231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3611879"/>
            <a:ext cx="20939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32120"/>
                </a:solidFill>
                <a:latin typeface="Aptos"/>
              </a:rPr>
              <a:t>PREMISES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4041648"/>
            <a:ext cx="2093976" cy="7589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9635E"/>
                </a:solidFill>
                <a:latin typeface="Aptos"/>
              </a:rPr>
              <a:t>What reasons are stated?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3474720"/>
            <a:ext cx="26517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3611879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32120"/>
                </a:solidFill>
                <a:latin typeface="Aptos"/>
              </a:rPr>
              <a:t>LOGICAL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4041648"/>
            <a:ext cx="2322576" cy="7589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9635E"/>
                </a:solidFill>
                <a:latin typeface="Aptos"/>
              </a:rPr>
              <a:t>What might need review?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5257800"/>
            <a:ext cx="51663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8E303B"/>
                </a:solidFill>
                <a:latin typeface="Aptos"/>
              </a:rPr>
              <a:t>9,932 usable examples after removing duplicate arguments and empty targets.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897880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69635E"/>
                </a:solidFill>
                <a:latin typeface="Aptos"/>
              </a:rPr>
              <a:t>Most annotations are model-assisted; they are useful references, not verified ground truth.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CD8289"/>
                </a:solidFill>
                <a:latin typeface="Aptos"/>
              </a:rPr>
              <a:t>INFERNOIR  / 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EDE5"/>
                </a:solidFill>
                <a:latin typeface="Aptos Display"/>
              </a:rPr>
              <a:t>How INFERNOIR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7A09B"/>
                </a:solidFill>
                <a:latin typeface="Aptos"/>
              </a:rPr>
              <a:t>We compare two retrieval baselines with a fine-tuned text-generation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8E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A7A09B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77440"/>
            <a:ext cx="2029968" cy="1371600"/>
          </a:xfrm>
          <a:prstGeom prst="roundRect">
            <a:avLst/>
          </a:prstGeom>
          <a:solidFill>
            <a:srgbClr val="242424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578608"/>
            <a:ext cx="18105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4EDE5"/>
                </a:solidFill>
                <a:latin typeface="Aptos"/>
              </a:rPr>
              <a:t>1.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999232"/>
            <a:ext cx="181051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7A09B"/>
                </a:solidFill>
                <a:latin typeface="Aptos"/>
              </a:rPr>
              <a:t>Reddit argument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42616" y="3063240"/>
            <a:ext cx="219456" cy="0"/>
          </a:xfrm>
          <a:prstGeom prst="line">
            <a:avLst/>
          </a:prstGeom>
          <a:ln w="19050">
            <a:solidFill>
              <a:srgbClr val="CD82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79" y="2377440"/>
            <a:ext cx="2029968" cy="1371600"/>
          </a:xfrm>
          <a:prstGeom prst="roundRect">
            <a:avLst/>
          </a:prstGeom>
          <a:solidFill>
            <a:srgbClr val="242424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578608"/>
            <a:ext cx="18105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4EDE5"/>
                </a:solidFill>
                <a:latin typeface="Aptos"/>
              </a:rPr>
              <a:t>2. 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999232"/>
            <a:ext cx="181051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7A09B"/>
                </a:solidFill>
                <a:latin typeface="Aptos"/>
              </a:rPr>
              <a:t>Clean data; split 80/10/10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74336" y="3063240"/>
            <a:ext cx="219456" cy="0"/>
          </a:xfrm>
          <a:prstGeom prst="line">
            <a:avLst/>
          </a:prstGeom>
          <a:ln w="19050">
            <a:solidFill>
              <a:srgbClr val="CD82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57800" y="2377440"/>
            <a:ext cx="2029968" cy="1371600"/>
          </a:xfrm>
          <a:prstGeom prst="roundRect">
            <a:avLst/>
          </a:prstGeom>
          <a:solidFill>
            <a:srgbClr val="242424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2578608"/>
            <a:ext cx="18105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4EDE5"/>
                </a:solidFill>
                <a:latin typeface="Aptos"/>
              </a:rPr>
              <a:t>3. Represent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999232"/>
            <a:ext cx="181051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7A09B"/>
                </a:solidFill>
                <a:latin typeface="Aptos"/>
              </a:rPr>
              <a:t>TF-IDF + sentence embeddings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06056" y="3063240"/>
            <a:ext cx="219456" cy="0"/>
          </a:xfrm>
          <a:prstGeom prst="line">
            <a:avLst/>
          </a:prstGeom>
          <a:ln w="19050">
            <a:solidFill>
              <a:srgbClr val="CD82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89519" y="2377440"/>
            <a:ext cx="2029968" cy="1371600"/>
          </a:xfrm>
          <a:prstGeom prst="roundRect">
            <a:avLst/>
          </a:prstGeom>
          <a:solidFill>
            <a:srgbClr val="242424"/>
          </a:solidFill>
          <a:ln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7" y="2578608"/>
            <a:ext cx="18105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4EDE5"/>
                </a:solidFill>
                <a:latin typeface="Aptos"/>
              </a:rPr>
              <a:t>4. Analyse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7" y="2999232"/>
            <a:ext cx="181051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7A09B"/>
                </a:solidFill>
                <a:latin typeface="Aptos"/>
              </a:rPr>
              <a:t>Retrieve assumptions or generate with T5-small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37776" y="3063240"/>
            <a:ext cx="219456" cy="0"/>
          </a:xfrm>
          <a:prstGeom prst="line">
            <a:avLst/>
          </a:prstGeom>
          <a:ln w="19050">
            <a:solidFill>
              <a:srgbClr val="CD82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21240" y="2377440"/>
            <a:ext cx="2029968" cy="1371600"/>
          </a:xfrm>
          <a:prstGeom prst="roundRect">
            <a:avLst/>
          </a:prstGeom>
          <a:solidFill>
            <a:srgbClr val="242424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30967" y="2578608"/>
            <a:ext cx="18105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4EDE5"/>
                </a:solidFill>
                <a:latin typeface="Aptos"/>
              </a:rPr>
              <a:t>5.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7" y="2999232"/>
            <a:ext cx="181051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7A09B"/>
                </a:solidFill>
                <a:latin typeface="Aptos"/>
              </a:rPr>
              <a:t>Candidate assumptions for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34840"/>
            <a:ext cx="105156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4EDE5"/>
                </a:solidFill>
                <a:latin typeface="Aptos"/>
              </a:rPr>
              <a:t>Tools: Python • Hugging Face Transformers/Datasets • scikit-learn • sentence-transformers • Gradio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57800"/>
            <a:ext cx="100584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A7A09B"/>
                </a:solidFill>
                <a:latin typeface="Aptos"/>
              </a:rPr>
              <a:t>TF-IDF and embeddings retrieve a similar training argument and copy its assumptions; T5-small generates text but can be repetitive or irrelevant.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8E303B"/>
                </a:solidFill>
                <a:latin typeface="Aptos"/>
              </a:rPr>
              <a:t>INFERNOIR  / 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232120"/>
                </a:solidFill>
                <a:latin typeface="Aptos Display"/>
              </a:rPr>
              <a:t>Example: testing generated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9635E"/>
                </a:solidFill>
                <a:latin typeface="Aptos"/>
              </a:rPr>
              <a:t>Actual model output from our public-transport test; output quality is limited.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8E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9635E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744200" cy="868680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102870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F4EDE5"/>
                </a:solidFill>
                <a:latin typeface="Aptos"/>
              </a:rPr>
              <a:t>“People should use public transportation instead of private cars because it reduces traffic congestion and air pollution...”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34290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108960"/>
            <a:ext cx="30998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32120"/>
                </a:solidFill>
                <a:latin typeface="Aptos"/>
              </a:rPr>
              <a:t>MODEL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38728"/>
            <a:ext cx="3099816" cy="8961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69635E"/>
                </a:solidFill>
                <a:latin typeface="Aptos"/>
              </a:rPr>
              <a:t>“Public transportation is a viable alternative to private cars.”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971800"/>
            <a:ext cx="34290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108960"/>
            <a:ext cx="30998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32120"/>
                </a:solidFill>
                <a:latin typeface="Aptos"/>
              </a:rPr>
              <a:t>OBSERVED 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538728"/>
            <a:ext cx="3099816" cy="8961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69635E"/>
                </a:solidFill>
                <a:latin typeface="Aptos"/>
              </a:rPr>
              <a:t>The same assumption was generated twice.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971800"/>
            <a:ext cx="34290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3108960"/>
            <a:ext cx="30998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32120"/>
                </a:solidFill>
                <a:latin typeface="Aptos"/>
              </a:rPr>
              <a:t>WHAT IT MISSED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538728"/>
            <a:ext cx="3099816" cy="8961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69635E"/>
                </a:solidFill>
                <a:latin typeface="Aptos"/>
              </a:rPr>
              <a:t>It missed several plausible assumptions about pollution and public costs.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232120"/>
                </a:solidFill>
                <a:latin typeface="Aptos"/>
              </a:rPr>
              <a:t>Finding: relevant wording does not guarantee faithful or logically useful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CD8289"/>
                </a:solidFill>
                <a:latin typeface="Aptos"/>
              </a:rPr>
              <a:t>INFERNOIR  / 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EDE5"/>
                </a:solidFill>
                <a:latin typeface="Aptos Display"/>
              </a:rPr>
              <a:t>Evaluation: ROUGE on held-out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7A09B"/>
                </a:solidFill>
                <a:latin typeface="Aptos"/>
              </a:rPr>
              <a:t>ROUGE measures text overlap with the dataset's reference assumptions—not logical correctness.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8E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A7A09B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9000" cy="1600200"/>
          </a:xfrm>
          <a:prstGeom prst="roundRect">
            <a:avLst/>
          </a:prstGeom>
          <a:solidFill>
            <a:srgbClr val="242424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30998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4EDE5"/>
                </a:solidFill>
                <a:latin typeface="Aptos"/>
              </a:rPr>
              <a:t>ROUGE-1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95728"/>
            <a:ext cx="3099816" cy="9418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7A09B"/>
                </a:solidFill>
                <a:latin typeface="Aptos"/>
              </a:rPr>
              <a:t>Measures overlap of individual 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600200"/>
          </a:xfrm>
          <a:prstGeom prst="roundRect">
            <a:avLst/>
          </a:prstGeom>
          <a:solidFill>
            <a:srgbClr val="242424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965960"/>
            <a:ext cx="30998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4EDE5"/>
                </a:solidFill>
                <a:latin typeface="Aptos"/>
              </a:rPr>
              <a:t>ROUGE-L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395728"/>
            <a:ext cx="3099816" cy="9418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7A09B"/>
                </a:solidFill>
                <a:latin typeface="Aptos"/>
              </a:rPr>
              <a:t>Measures ordered word overlap using the longest common subsequence.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29000" cy="1600200"/>
          </a:xfrm>
          <a:prstGeom prst="roundRect">
            <a:avLst/>
          </a:prstGeom>
          <a:solidFill>
            <a:srgbClr val="242424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965960"/>
            <a:ext cx="30998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4EDE5"/>
                </a:solidFill>
                <a:latin typeface="Aptos"/>
              </a:rPr>
              <a:t>BEST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395728"/>
            <a:ext cx="3099816" cy="9418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7A09B"/>
                </a:solidFill>
                <a:latin typeface="Aptos"/>
              </a:rPr>
              <a:t>T5-small scored highest among our three approaches.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77639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F4EDE5"/>
                </a:solidFill>
                <a:latin typeface="Aptos"/>
              </a:rPr>
              <a:t>Test results (994 examples)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149840" cy="137160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A7A09B"/>
                </a:solidFill>
                <a:latin typeface="Aptos"/>
              </a:rPr>
              <a:t>T5-small: ROUGE-1 0.2643; ROUGE-L 0.2230</a:t>
            </a:r>
            <a:r>
              <a:rPr sz="1400">
                <a:solidFill>
                  <a:srgbClr val="A7A09B"/>
                </a:solidFill>
                <a:latin typeface="Aptos"/>
              </a:rPr>
              <a:t/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A7A09B"/>
                </a:solidFill>
                <a:latin typeface="Aptos"/>
              </a:rPr>
              <a:t>Sentence embeddings: 0.2464; 0.1952</a:t>
            </a:r>
            <a:r>
              <a:rPr sz="1400">
                <a:solidFill>
                  <a:srgbClr val="A7A09B"/>
                </a:solidFill>
                <a:latin typeface="Aptos"/>
              </a:rPr>
              <a:t/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A7A09B"/>
                </a:solidFill>
                <a:latin typeface="Aptos"/>
              </a:rPr>
              <a:t>TF-IDF: 0.2405; 0.1917</a:t>
            </a:r>
            <a:r>
              <a:rPr sz="1400">
                <a:solidFill>
                  <a:srgbClr val="A7A09B"/>
                </a:solidFill>
                <a:latin typeface="Aptos"/>
              </a:rPr>
              <a:t/>
            </a:r>
          </a:p>
          <a:p>
            <a:r>
              <a:t>Higher overlap does not prove logical correctness.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8E303B"/>
                </a:solidFill>
                <a:latin typeface="Aptos"/>
              </a:rPr>
              <a:t>INFERNOIR  / 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232120"/>
                </a:solidFill>
                <a:latin typeface="Aptos Display"/>
              </a:rPr>
              <a:t>Audit: what did we observe?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9635E"/>
                </a:solidFill>
                <a:latin typeface="Aptos"/>
              </a:rPr>
              <a:t>We inspected group performance and a TF-IDF retrieval explanation.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8E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9635E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1920240" cy="329184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78507"/>
            <a:ext cx="177393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VALIDITY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764792"/>
            <a:ext cx="8046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120"/>
                </a:solidFill>
                <a:latin typeface="Aptos"/>
              </a:rPr>
              <a:t>The two largest groups had similar ROUGE-1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42032"/>
            <a:ext cx="1920240" cy="329184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583179"/>
            <a:ext cx="177393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SMALL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69463"/>
            <a:ext cx="8046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120"/>
                </a:solidFill>
                <a:latin typeface="Aptos"/>
              </a:rPr>
              <a:t>Highly valid: 0.3024 average, but only 12 test examples.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46704"/>
            <a:ext cx="1920240" cy="329184"/>
          </a:xfrm>
          <a:prstGeom prst="roundRect">
            <a:avLst/>
          </a:prstGeom>
          <a:solidFill>
            <a:srgbClr val="8E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387852"/>
            <a:ext cx="177393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EXPLAINABILITY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374136"/>
            <a:ext cx="8046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120"/>
                </a:solidFill>
                <a:latin typeface="Aptos"/>
              </a:rPr>
              <a:t>Shared words can retrieve an argument with different reasoning.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51376"/>
            <a:ext cx="1920240" cy="329184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192524"/>
            <a:ext cx="177393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178808"/>
            <a:ext cx="8046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120"/>
                </a:solidFill>
                <a:latin typeface="Aptos"/>
              </a:rPr>
              <a:t>T5 sometimes repeats, copies, or generates irrelevant 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956048"/>
            <a:ext cx="1920240" cy="329184"/>
          </a:xfrm>
          <a:prstGeom prst="roundRect">
            <a:avLst/>
          </a:prstGeom>
          <a:solidFill>
            <a:srgbClr val="8E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997196"/>
            <a:ext cx="177393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LABEL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983480"/>
            <a:ext cx="8046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120"/>
                </a:solidFill>
                <a:latin typeface="Aptos"/>
              </a:rPr>
              <a:t>Reference annotations are model-assisted and may be noisy.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25312"/>
            <a:ext cx="10332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8E303B"/>
                </a:solidFill>
                <a:latin typeface="Aptos"/>
              </a:rPr>
              <a:t>These are text-overlap audits, not proof of demographic fairness or logical correctness.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CD8289"/>
                </a:solidFill>
                <a:latin typeface="Aptos"/>
              </a:rPr>
              <a:t>INFERNOIR  / 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EDE5"/>
                </a:solidFill>
                <a:latin typeface="Aptos Display"/>
              </a:rPr>
              <a:t>Tools, limits, and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7A09B"/>
                </a:solidFill>
                <a:latin typeface="Aptos"/>
              </a:rPr>
              <a:t>A working research prototype with a Gradio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8E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A7A09B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74720" cy="2011680"/>
          </a:xfrm>
          <a:prstGeom prst="roundRect">
            <a:avLst/>
          </a:prstGeom>
          <a:solidFill>
            <a:srgbClr val="242424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65960"/>
            <a:ext cx="31455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4EDE5"/>
                </a:solidFill>
                <a:latin typeface="Aptos"/>
              </a:rP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95728"/>
            <a:ext cx="3145536" cy="1353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A7A09B"/>
                </a:solidFill>
                <a:latin typeface="Aptos"/>
              </a:rPr>
              <a:t>Python • Pandas • scikit-learn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A7A09B"/>
                </a:solidFill>
                <a:latin typeface="Aptos"/>
              </a:rPr>
              <a:t>Transformers • Datasets • Gradio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242424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965960"/>
            <a:ext cx="31455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4EDE5"/>
                </a:solidFill>
                <a:latin typeface="Aptos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395728"/>
            <a:ext cx="3145536" cy="1353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7A09B"/>
                </a:solidFill>
                <a:latin typeface="Aptos"/>
              </a:rPr>
              <a:t>T5-small can repeat or misinterpret arguments; labels are model-assisted; data comes from one subreddit.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74720" cy="2011680"/>
          </a:xfrm>
          <a:prstGeom prst="roundRect">
            <a:avLst/>
          </a:prstGeom>
          <a:solidFill>
            <a:srgbClr val="242424"/>
          </a:solidFill>
          <a:ln w="15240"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965960"/>
            <a:ext cx="31455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4EDE5"/>
                </a:solidFill>
                <a:latin typeface="Aptos"/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395728"/>
            <a:ext cx="3145536" cy="1353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7A09B"/>
                </a:solidFill>
                <a:latin typeface="Aptos"/>
              </a:rPr>
              <a:t>Human evaluation, better training data, stronger generation, and broader-domain testing.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104241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4EDE5"/>
                </a:solidFill>
                <a:latin typeface="Aptos"/>
              </a:rPr>
              <a:t>INFERNOIR suggests possible assumptions. It does not verify facts or prove an argument valid, sound, or fair.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73152" cy="4754880"/>
          </a:xfrm>
          <a:prstGeom prst="rect">
            <a:avLst/>
          </a:prstGeom>
          <a:solidFill>
            <a:srgbClr val="8E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960120"/>
            <a:ext cx="3657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CD8289"/>
                </a:solidFill>
                <a:latin typeface="Aptos"/>
              </a:rPr>
              <a:t>INFERNOIR  /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98755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100" b="1" i="0">
                <a:solidFill>
                  <a:srgbClr val="F4EDE5"/>
                </a:solidFill>
                <a:latin typeface="Aptos Display"/>
              </a:rPr>
              <a:t>Make hidden reasoning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606040"/>
            <a:ext cx="960120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A7A09B"/>
                </a:solidFill>
                <a:latin typeface="Aptos"/>
              </a:rPr>
              <a:t>INFERNOIR compares TF-IDF retrieval, sentence-embedding retrieval, and fine-tuned T5-small to generate candidate assumptions from Reddit arguments. T5-small achieved the highest ROUGE overlap, but qualitative tests revealed repetition and weak logical relevance.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4160520"/>
            <a:ext cx="10012680" cy="1143000"/>
          </a:xfrm>
          <a:prstGeom prst="roundRect">
            <a:avLst/>
          </a:prstGeom>
          <a:solidFill>
            <a:srgbClr val="242424"/>
          </a:solidFill>
          <a:ln>
            <a:solidFill>
              <a:srgbClr val="8E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370832"/>
            <a:ext cx="946404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F4EDE5"/>
                </a:solidFill>
                <a:latin typeface="Aptos"/>
              </a:rPr>
              <a:t>“Text generation is not the same as understanding the hidden reasoning.”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6172200"/>
            <a:ext cx="9144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7A09B"/>
                </a:solidFill>
                <a:latin typeface="Aptos"/>
              </a:rPr>
              <a:t>Thank you  • 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172200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A7A09B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